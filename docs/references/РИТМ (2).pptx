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381" r:id="rId2"/>
    <p:sldId id="555" r:id="rId3"/>
    <p:sldId id="2147376543" r:id="rId4"/>
    <p:sldId id="2147376544" r:id="rId5"/>
    <p:sldId id="2147376545" r:id="rId6"/>
    <p:sldId id="2147376546" r:id="rId7"/>
    <p:sldId id="2147376547" r:id="rId8"/>
    <p:sldId id="2147376548" r:id="rId9"/>
    <p:sldId id="214737654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olay Leman" initials="NL" lastIdx="104" clrIdx="0"/>
  <p:cmAuthor id="2" name="Игорь Кичайкин" initials="ИК" lastIdx="12" clrIdx="1">
    <p:extLst>
      <p:ext uri="{19B8F6BF-5375-455C-9EA6-DF929625EA0E}">
        <p15:presenceInfo xmlns:p15="http://schemas.microsoft.com/office/powerpoint/2012/main" userId="b0dba7b4ac5bc9e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536A"/>
    <a:srgbClr val="4371C4"/>
    <a:srgbClr val="BEE50C"/>
    <a:srgbClr val="4B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8"/>
    <p:restoredTop sz="96494"/>
  </p:normalViewPr>
  <p:slideViewPr>
    <p:cSldViewPr snapToGrid="0" snapToObjects="1">
      <p:cViewPr varScale="1">
        <p:scale>
          <a:sx n="130" d="100"/>
          <a:sy n="130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E19E8-8619-FA44-9719-1D922BB4CCD8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E314A-EE14-1E4E-AB82-8E1E0A716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093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646D5-F9DF-0C48-827C-1D698005B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FD7D14-B9BC-3D4F-B741-AE839D375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5DB942-45D7-2745-B1B9-70A6222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32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5B35E-2106-304A-8006-345C77B9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B0D34B-C25D-5640-85D1-01CEEF8D5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A6EC8C-29F1-B64B-A183-91D89381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39A44-B9A7-0E44-A474-1ED3C0305A6B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5409E2-0BB3-5D45-8EFA-4921889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692A84-9217-9944-9284-CBD6007F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81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90EEC-9F46-8849-BFA6-74B715D6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9D247B-94FC-0E4E-8227-9794FE00D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54FC1A-B094-3546-BB3C-5A42864D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C0B05-135C-D84B-AD8D-9A0D61BC4C1A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BD1BB-3BB4-2F42-9897-2E9A1AE2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F46E17-7410-8A47-BF7A-11B3FEC5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A0770-FB04-9041-9155-A4C118E5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1CB3ED-023D-6340-BB66-E5697BA85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580B99-41C7-3F45-8BB7-EF79318E3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D378B1-98E8-8B4E-BE98-F33788A3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65267-E221-A04B-A3AC-409D77F81325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67FAE1-8C2D-2443-95B3-98B71B4F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0BCF9D-ECE9-F74D-A7C2-6EE319B4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82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0B73F-EDFF-B348-9589-CE144FA0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321095-1ACD-5D42-B7CA-3B8EBD668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29AB43-E6CC-5342-BABA-BC3963599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AEBE1B-458F-F143-BA07-249930F84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E92EEC-C403-B345-9225-9B2B3EB5C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B3C515-70C0-DD4C-BB8E-3F94204C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1BC6-FA63-9046-83D2-A35F86F77855}" type="datetime1">
              <a:rPr lang="ru-RU" smtClean="0"/>
              <a:t>08.09.2025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3F07D3-BBE3-7B41-924B-0D619792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0AC5AC-12EB-9947-92C4-F7A6F0DE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35EF1-EED9-F441-AE09-7CD11F1B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713B73-F1AC-4E46-AE2C-C2882FC2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15580-749D-474E-8CF6-148324035461}" type="datetime1">
              <a:rPr lang="ru-RU" smtClean="0"/>
              <a:t>08.09.2025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51A008-94F1-9E49-A9B3-3F8887EE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B02B9B-0EB0-2845-B887-FAAB39A1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05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22EC5F-2F8F-5548-95A9-17C01C67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2CD8-D4B7-B740-824F-B4E197198DD9}" type="datetime1">
              <a:rPr lang="ru-RU" smtClean="0"/>
              <a:t>08.09.2025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B61331-C32B-EC4B-B6AE-FCE10FFB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423A1A-4B06-2447-AFA3-616EBC73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28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403FA-7073-9842-BB1C-1E7F5F05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DE2D63-2CB4-8449-BA7E-2633A518C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D8B8CD-EFA2-2B40-9CD4-85C7AC90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1C2CC7-AEA7-1149-ADDD-2E4EB3EB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4072-7021-4E4B-A19F-7AFA3CD3B06F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4AEC7D-84D8-EB4D-9ED5-4E15B784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592D89-FA08-F541-AE1B-B6C8C472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7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2E82B-581D-0A44-A70B-9BD53088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5BFCC0-50A3-844D-BB9F-5553AF89B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E4568B-A1EA-4444-98E7-04CFCED37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26B8AF-0869-0447-B936-05DD9AB6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45DB-E95B-B54E-9212-87EBCC4C5743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352BB8-8F44-E149-B227-C92D5F1A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CB0705-92F1-8B46-8125-74EFBF52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73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A2E0-1198-3F47-A5E6-4383D915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021B67-CEF1-F442-A9EA-CFF594D4B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3646DD-B2AD-D14F-87A0-BBD40959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D33A2-1708-174F-8E12-72DD7491B381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B4D05-9EC6-AD4A-8D06-44FBA61C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5473B4-BD82-FE49-9A58-424476A91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37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2BDF65-1F5E-A349-9B8A-37B664178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FD8B36-79D9-BF40-A761-A0C392AEB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56D64F-2D08-2245-B423-016274A8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4B16-B7F7-274D-91D1-4FD40D862399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4B1E5E-1C78-1B42-A562-B790CB2E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D63B46-E7C0-2A44-959C-DDE0CBF3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4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 userDrawn="1"/>
        </p:nvSpPr>
        <p:spPr>
          <a:xfrm>
            <a:off x="7483283" y="4572000"/>
            <a:ext cx="4706283" cy="2291938"/>
          </a:xfrm>
          <a:custGeom>
            <a:avLst/>
            <a:gdLst>
              <a:gd name="connsiteX0" fmla="*/ 0 w 3823855"/>
              <a:gd name="connsiteY0" fmla="*/ 5938 h 2291938"/>
              <a:gd name="connsiteX1" fmla="*/ 3823855 w 3823855"/>
              <a:gd name="connsiteY1" fmla="*/ 0 h 2291938"/>
              <a:gd name="connsiteX2" fmla="*/ 3823855 w 3823855"/>
              <a:gd name="connsiteY2" fmla="*/ 207818 h 2291938"/>
              <a:gd name="connsiteX3" fmla="*/ 2511631 w 3823855"/>
              <a:gd name="connsiteY3" fmla="*/ 2291938 h 229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3855" h="2291938">
                <a:moveTo>
                  <a:pt x="0" y="5938"/>
                </a:moveTo>
                <a:lnTo>
                  <a:pt x="3823855" y="0"/>
                </a:lnTo>
                <a:lnTo>
                  <a:pt x="3823855" y="207818"/>
                </a:lnTo>
                <a:lnTo>
                  <a:pt x="2511631" y="2291938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63"/>
          </a:p>
        </p:txBody>
      </p:sp>
      <p:sp>
        <p:nvSpPr>
          <p:cNvPr id="23" name="Title 9"/>
          <p:cNvSpPr>
            <a:spLocks noGrp="1"/>
          </p:cNvSpPr>
          <p:nvPr>
            <p:ph type="title" hasCustomPrompt="1"/>
          </p:nvPr>
        </p:nvSpPr>
        <p:spPr bwMode="gray">
          <a:xfrm>
            <a:off x="353648" y="2206261"/>
            <a:ext cx="8521465" cy="214582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2925" b="1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278606" lvl="0" indent="-278606" fontAlgn="base">
              <a:lnSpc>
                <a:spcPct val="110000"/>
              </a:lnSpc>
              <a:spcBef>
                <a:spcPts val="488"/>
              </a:spcBef>
              <a:spcAft>
                <a:spcPct val="0"/>
              </a:spcAft>
              <a:buClrTx/>
              <a:buSzTx/>
              <a:buFontTx/>
            </a:pPr>
            <a:r>
              <a:rPr lang="en-US"/>
              <a:t>Enter Project Title</a:t>
            </a:r>
            <a:endParaRPr lang="en-GB"/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53648" y="5623750"/>
            <a:ext cx="852146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488"/>
              </a:spcBef>
              <a:spcAft>
                <a:spcPct val="0"/>
              </a:spcAft>
              <a:defRPr lang="en-US" sz="1138" b="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975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n-lt"/>
              </a:rPr>
              <a:t>Genre and </a:t>
            </a:r>
            <a:r>
              <a:rPr lang="en-GB">
                <a:latin typeface="+mn-lt"/>
              </a:rPr>
              <a:t>Date</a:t>
            </a:r>
          </a:p>
        </p:txBody>
      </p:sp>
      <p:sp>
        <p:nvSpPr>
          <p:cNvPr id="7" name="Rectangle 12"/>
          <p:cNvSpPr/>
          <p:nvPr userDrawn="1"/>
        </p:nvSpPr>
        <p:spPr>
          <a:xfrm>
            <a:off x="353647" y="2015098"/>
            <a:ext cx="1464880" cy="869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6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ectangle 17"/>
          <p:cNvSpPr/>
          <p:nvPr userDrawn="1"/>
        </p:nvSpPr>
        <p:spPr>
          <a:xfrm>
            <a:off x="8961017" y="6531737"/>
            <a:ext cx="3140100" cy="5797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63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21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52B87-0A77-A84E-91EC-C2D228A6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B41D7-F94E-3240-931C-F599C4A9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04AA84-F0DF-A348-80B3-1E1327669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6E0E5-29F0-7B4F-BBC1-4B88050D270B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5D175C-DFA6-2049-95D2-B368C77C5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107598-0F01-E848-9A9D-5039F902E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CCB53-41C7-B545-A7B9-FEBB4695C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4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967462" y="6266197"/>
            <a:ext cx="6923690" cy="504825"/>
          </a:xfrm>
        </p:spPr>
        <p:txBody>
          <a:bodyPr/>
          <a:lstStyle/>
          <a:p>
            <a:pPr algn="l"/>
            <a:endParaRPr lang="ru-RU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None/>
            </a:pPr>
            <a:r>
              <a:rPr lang="ru-RU" altLang="ru-RU" dirty="0">
                <a:solidFill>
                  <a:srgbClr val="000000"/>
                </a:solidFill>
                <a:latin typeface="Arial" charset="0"/>
              </a:rPr>
              <a:t>сентябрь</a:t>
            </a:r>
            <a:r>
              <a:rPr lang="en-US" altLang="ru-RU" dirty="0">
                <a:solidFill>
                  <a:srgbClr val="000000"/>
                </a:solidFill>
                <a:latin typeface="Arial" charset="0"/>
              </a:rPr>
              <a:t>, 202</a:t>
            </a:r>
            <a:r>
              <a:rPr lang="ru-RU" altLang="ru-RU" dirty="0">
                <a:solidFill>
                  <a:srgbClr val="000000"/>
                </a:solidFill>
                <a:latin typeface="Arial" charset="0"/>
              </a:rPr>
              <a:t>5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 bwMode="gray">
          <a:xfrm>
            <a:off x="8987126" y="745739"/>
            <a:ext cx="1002536" cy="20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1400" b="0" kern="1200" baseline="0" noProof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587" marR="0" indent="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B21107"/>
              </a:buClr>
              <a:buSzPct val="85000"/>
              <a:buFont typeface="Wingdings" pitchFamily="2" charset="2"/>
              <a:buNone/>
              <a:tabLst/>
              <a:defRPr kumimoji="0" lang="en-US" sz="1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marR="0" indent="-179388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charset="2"/>
              <a:buChar char="§"/>
              <a:tabLst/>
              <a:defRPr lang="en-US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58775" marR="0" indent="-182563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itchFamily="18" charset="2"/>
              <a:buChar char="-"/>
              <a:tabLst/>
              <a:defRPr lang="en-US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36575" marR="0" indent="-176213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§"/>
              <a:tabLst/>
              <a:defRPr lang="en-US" sz="1200" b="0" kern="120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720725" indent="-1857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Symbol" pitchFamily="18" charset="2"/>
              <a:buChar char="-"/>
              <a:defRPr lang="en-US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895350" indent="-1746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§"/>
              <a:defRPr lang="en-US" sz="1200" b="0" kern="120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081088" indent="-1857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itchFamily="34" charset="0"/>
              <a:buChar char="–"/>
              <a:defRPr lang="en-US" sz="1200" b="0" kern="120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55713" indent="-1746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§"/>
              <a:defRPr lang="en-US" sz="1200" b="0" kern="120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0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F19C1DA-9E93-9242-9F2B-91D6C3EF1A87}"/>
              </a:ext>
            </a:extLst>
          </p:cNvPr>
          <p:cNvSpPr/>
          <p:nvPr/>
        </p:nvSpPr>
        <p:spPr>
          <a:xfrm>
            <a:off x="9488394" y="2615381"/>
            <a:ext cx="199568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AF63E3-B108-6342-834E-10E728086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11" y="-32845"/>
            <a:ext cx="6923689" cy="6923689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31733CA-1384-6D47-BE97-885C57F8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6731" y="2752169"/>
            <a:ext cx="7109037" cy="2145820"/>
          </a:xfrm>
        </p:spPr>
        <p:txBody>
          <a:bodyPr/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ИТМ КОМАНДЫ 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ЛИДЕРОВ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6701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ПРАВИЛА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62033" y="1809045"/>
            <a:ext cx="11596099" cy="265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цель и язык: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цели в OKR (квартал). Статусы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Green/Yellow/Red.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каждой задачи один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Responsible Individual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чёткий результат + метрика + срок + владелец + артефакт (ссылка/файл).</a:t>
            </a: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24/48: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двигается &gt;24 ч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эскалируем. Решение по эскалации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≤48 ч.</a:t>
            </a: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доска задач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Backlog → Planned(date) → In Progress → Blocked → Done.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WIP-лимиты.</a:t>
            </a:r>
          </a:p>
          <a:p>
            <a:pPr lvl="0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Пререлизы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 отчёты присылаются за 2 ч до встречи. Читаем до начала; встречи для решений.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76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РИТМ И РЕГЛАМЕНТЫ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777437"/>
            <a:ext cx="11596099" cy="265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b="1" u="sng" dirty="0"/>
              <a:t>Ежедневно: 20 минут ЗУМ и Пост (09:30 - 9:50 чек-ин)</a:t>
            </a:r>
            <a:endParaRPr lang="ru-RU" sz="1200" dirty="0"/>
          </a:p>
          <a:p>
            <a:r>
              <a:rPr lang="ru-RU" b="1" dirty="0"/>
              <a:t>Формат поста (каждый из трёх лидеров):</a:t>
            </a:r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r>
              <a:rPr lang="ru-RU" dirty="0"/>
              <a:t>1 человек не более 5 минут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dirty="0"/>
              <a:t>1-3 самых важных задачи на день (не больше трёх)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dirty="0"/>
              <a:t>Планируемый результат/метрика на день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dirty="0" err="1"/>
              <a:t>Блокеры</a:t>
            </a:r>
            <a:r>
              <a:rPr lang="ru-RU" dirty="0"/>
              <a:t>/зависимости (если есть)</a:t>
            </a:r>
          </a:p>
          <a:p>
            <a:r>
              <a:rPr lang="ru-RU" b="1" dirty="0"/>
              <a:t>Правила:</a:t>
            </a:r>
            <a:endParaRPr lang="ru-RU" dirty="0"/>
          </a:p>
          <a:p>
            <a:pPr marL="285750" lvl="0" indent="-285750">
              <a:buFont typeface="Wingdings" pitchFamily="2" charset="2"/>
              <a:buChar char="v"/>
            </a:pPr>
            <a:r>
              <a:rPr lang="ru-RU" dirty="0"/>
              <a:t>Никаких отчётов «чем занимался». Только </a:t>
            </a:r>
            <a:r>
              <a:rPr lang="ru-RU" i="1" dirty="0"/>
              <a:t>результат дня</a:t>
            </a:r>
            <a:r>
              <a:rPr lang="ru-RU" dirty="0"/>
              <a:t>.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ru-RU" dirty="0"/>
              <a:t>Если задача &gt;1 дня - разбиваем на дневные инкременты.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</a:p>
          <a:p>
            <a:r>
              <a:rPr lang="ru-RU" b="1" u="sng" dirty="0"/>
              <a:t>Еженедельно: каждый четверг 45–60 минут 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синхронизация плана недели, снятие узких мест, решения.</a:t>
            </a:r>
          </a:p>
          <a:p>
            <a:r>
              <a:rPr lang="ru-RU" b="1" dirty="0"/>
              <a:t>Вход:</a:t>
            </a:r>
            <a:r>
              <a:rPr lang="ru-RU" dirty="0"/>
              <a:t> статус-пакет (от каждого лидера) + обновлённая доска.</a:t>
            </a:r>
          </a:p>
          <a:p>
            <a:r>
              <a:rPr lang="ru-RU" b="1" dirty="0"/>
              <a:t>Время</a:t>
            </a:r>
            <a:r>
              <a:rPr lang="ru-RU" dirty="0"/>
              <a:t>: у каждого 15 минут (10 минут </a:t>
            </a:r>
            <a:r>
              <a:rPr lang="ru-RU" dirty="0" err="1"/>
              <a:t>факт+план</a:t>
            </a:r>
            <a:r>
              <a:rPr lang="ru-RU" dirty="0"/>
              <a:t>) + 5 минут вопросы</a:t>
            </a:r>
          </a:p>
          <a:p>
            <a:r>
              <a:rPr lang="ru-RU" b="1" dirty="0"/>
              <a:t>Шаблон слайда/поста (каждый лидер):</a:t>
            </a:r>
            <a:endParaRPr lang="ru-RU" dirty="0"/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Итоги прошлой недели: 3-5 ключевых фактов, </a:t>
            </a:r>
            <a:r>
              <a:rPr lang="ru-RU" b="1" dirty="0"/>
              <a:t>RAG</a:t>
            </a:r>
            <a:r>
              <a:rPr lang="ru-RU" dirty="0"/>
              <a:t> по целям.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План недели: 3-5 приоритетов с метриками/датами.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Узкие места/риски: список с DRI и </a:t>
            </a:r>
            <a:r>
              <a:rPr lang="ru-RU" dirty="0" err="1"/>
              <a:t>дедлайнами</a:t>
            </a:r>
            <a:r>
              <a:rPr lang="ru-RU" dirty="0"/>
              <a:t> снятия.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Решения, которые нужны от CEO/коллег: 3-5 </a:t>
            </a:r>
            <a:r>
              <a:rPr lang="ru-RU" dirty="0" err="1"/>
              <a:t>буллетов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 </a:t>
            </a:r>
          </a:p>
          <a:p>
            <a:r>
              <a:rPr lang="ru-RU" b="1" u="sng" dirty="0"/>
              <a:t>Ежемесячно (</a:t>
            </a:r>
            <a:r>
              <a:rPr lang="ru-RU" b="1" u="sng" dirty="0" err="1"/>
              <a:t>M</a:t>
            </a:r>
            <a:r>
              <a:rPr lang="en-US" b="1" u="sng" dirty="0"/>
              <a:t>BR</a:t>
            </a:r>
            <a:r>
              <a:rPr lang="ru-RU" b="1" u="sng" dirty="0"/>
              <a:t>): 60–90 минут (последний рабочий день)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разбор P&amp;L/метрик, вариации план-факт, корректировки.</a:t>
            </a:r>
          </a:p>
          <a:p>
            <a:r>
              <a:rPr lang="ru-RU" b="1" dirty="0"/>
              <a:t>Вход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единый</a:t>
            </a:r>
            <a:r>
              <a:rPr lang="en-US" dirty="0"/>
              <a:t> Monthly Business Review (MBR) – 10-12 </a:t>
            </a:r>
            <a:r>
              <a:rPr lang="ru-RU" dirty="0"/>
              <a:t>слайдов</a:t>
            </a:r>
            <a:r>
              <a:rPr lang="en-US" dirty="0"/>
              <a:t>.</a:t>
            </a:r>
            <a:endParaRPr lang="ru-RU" dirty="0"/>
          </a:p>
          <a:p>
            <a:r>
              <a:rPr lang="ru-RU" b="1" dirty="0"/>
              <a:t>Структура MBR:</a:t>
            </a:r>
            <a:endParaRPr lang="ru-RU" dirty="0"/>
          </a:p>
          <a:p>
            <a:pPr lvl="0"/>
            <a:r>
              <a:rPr lang="ru-RU" dirty="0"/>
              <a:t>Компания: сводные KPI </a:t>
            </a:r>
            <a:r>
              <a:rPr lang="ru-RU" dirty="0" err="1"/>
              <a:t>vs</a:t>
            </a:r>
            <a:r>
              <a:rPr lang="ru-RU" dirty="0"/>
              <a:t>. план (RAG), ключевые победы/провалы, уроки.</a:t>
            </a:r>
          </a:p>
          <a:p>
            <a:pPr lvl="0"/>
            <a:r>
              <a:rPr lang="ru-RU" dirty="0"/>
              <a:t>Производство / Маркетинг / Финансы - по 2-3 слайда каждый:</a:t>
            </a:r>
          </a:p>
          <a:p>
            <a:pPr lvl="1"/>
            <a:r>
              <a:rPr lang="ru-RU" dirty="0"/>
              <a:t>План </a:t>
            </a:r>
            <a:r>
              <a:rPr lang="ru-RU" dirty="0" err="1"/>
              <a:t>vs</a:t>
            </a:r>
            <a:r>
              <a:rPr lang="ru-RU" dirty="0"/>
              <a:t>. факт (график), причины отклонений (top-3), корректирующие действия.</a:t>
            </a:r>
          </a:p>
          <a:p>
            <a:pPr lvl="0"/>
            <a:r>
              <a:rPr lang="ru-RU" dirty="0"/>
              <a:t>Риски/эскалации/решения: владелец → срок → ожидаемый эффект.</a:t>
            </a:r>
          </a:p>
          <a:p>
            <a:r>
              <a:rPr lang="ru-RU" dirty="0"/>
              <a:t> </a:t>
            </a:r>
          </a:p>
          <a:p>
            <a:r>
              <a:rPr lang="ru-RU" b="1" dirty="0"/>
              <a:t>Ежеквартально (QBR): 2-3 часа (первый вторник квартала)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сверка с годовым планом, </a:t>
            </a:r>
            <a:r>
              <a:rPr lang="ru-RU" dirty="0" err="1"/>
              <a:t>апдейт</a:t>
            </a:r>
            <a:r>
              <a:rPr lang="ru-RU" dirty="0"/>
              <a:t> OKR, </a:t>
            </a:r>
            <a:r>
              <a:rPr lang="ru-RU" dirty="0" err="1"/>
              <a:t>пересборка</a:t>
            </a:r>
            <a:r>
              <a:rPr lang="ru-RU" dirty="0"/>
              <a:t> приоритетов.</a:t>
            </a:r>
          </a:p>
          <a:p>
            <a:r>
              <a:rPr lang="ru-RU" b="1" dirty="0"/>
              <a:t>Артефакты:</a:t>
            </a:r>
            <a:r>
              <a:rPr lang="ru-RU" dirty="0"/>
              <a:t> квартальные OKR (3-5 на функцию), ресурсы, ключевые проекты, дорожные карты.</a:t>
            </a:r>
          </a:p>
          <a:p>
            <a:r>
              <a:rPr lang="ru-RU" b="1" dirty="0"/>
              <a:t>Повестка:</a:t>
            </a:r>
            <a:endParaRPr lang="ru-RU" dirty="0"/>
          </a:p>
          <a:p>
            <a:pPr lvl="0"/>
            <a:r>
              <a:rPr lang="ru-RU" dirty="0"/>
              <a:t>Результаты квартала: что сработало/нет, </a:t>
            </a:r>
            <a:r>
              <a:rPr lang="ru-RU" dirty="0" err="1"/>
              <a:t>unit</a:t>
            </a:r>
            <a:r>
              <a:rPr lang="ru-RU" dirty="0"/>
              <a:t>-экономика.</a:t>
            </a:r>
          </a:p>
          <a:p>
            <a:pPr lvl="0"/>
            <a:r>
              <a:rPr lang="ru-RU" dirty="0"/>
              <a:t>Решения по приоритетам/ресурсам/рискам на следующий квартал.</a:t>
            </a:r>
          </a:p>
          <a:p>
            <a:pPr lvl="0"/>
            <a:r>
              <a:rPr lang="ru-RU" dirty="0"/>
              <a:t>Утверждение целей и контрольных точек (</a:t>
            </a:r>
            <a:r>
              <a:rPr lang="ru-RU" dirty="0" err="1"/>
              <a:t>Milestones</a:t>
            </a:r>
            <a:r>
              <a:rPr lang="ru-RU" dirty="0"/>
              <a:t>) по месяцам.</a:t>
            </a:r>
          </a:p>
          <a:p>
            <a:r>
              <a:rPr lang="ru-RU" dirty="0"/>
              <a:t> </a:t>
            </a:r>
          </a:p>
          <a:p>
            <a:r>
              <a:rPr lang="ru-RU" b="1" dirty="0"/>
              <a:t>Ежегодно</a:t>
            </a:r>
            <a:r>
              <a:rPr lang="en-US" b="1" dirty="0"/>
              <a:t>: </a:t>
            </a:r>
            <a:r>
              <a:rPr lang="ru-RU" b="1" dirty="0"/>
              <a:t>1 день (стратегическая сессия)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стратегия на год, бюджет, ключевые ставки.</a:t>
            </a:r>
          </a:p>
          <a:p>
            <a:r>
              <a:rPr lang="ru-RU" b="1" dirty="0"/>
              <a:t>Выходы:</a:t>
            </a:r>
            <a:r>
              <a:rPr lang="ru-RU" dirty="0"/>
              <a:t> Годовые цели, бюджет, ключевые инициативы, рисковая карта, коммуникационный план.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встречи для решений.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836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РИТМ И РЕГЛАМЕНТЫ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777437"/>
            <a:ext cx="11596099" cy="582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ru-RU" dirty="0"/>
              <a:t> </a:t>
            </a:r>
            <a:r>
              <a:rPr lang="ru-RU" b="1" u="sng" dirty="0"/>
              <a:t>Ежемесячно (</a:t>
            </a:r>
            <a:r>
              <a:rPr lang="ru-RU" b="1" u="sng" dirty="0" err="1"/>
              <a:t>M</a:t>
            </a:r>
            <a:r>
              <a:rPr lang="en-US" b="1" u="sng" dirty="0"/>
              <a:t>BR</a:t>
            </a:r>
            <a:r>
              <a:rPr lang="ru-RU" b="1" u="sng" dirty="0"/>
              <a:t>): 60–90 минут (последний рабочий день)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разбор P&amp;L/метрик, вариации план-факт, корректировки.</a:t>
            </a:r>
          </a:p>
          <a:p>
            <a:r>
              <a:rPr lang="ru-RU" b="1" dirty="0"/>
              <a:t>Вход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единый</a:t>
            </a:r>
            <a:r>
              <a:rPr lang="en-US" dirty="0"/>
              <a:t> Monthly Business Review (MBR) – 10-12 </a:t>
            </a:r>
            <a:r>
              <a:rPr lang="ru-RU" dirty="0"/>
              <a:t>слайдов</a:t>
            </a:r>
            <a:r>
              <a:rPr lang="en-US" dirty="0"/>
              <a:t>.</a:t>
            </a:r>
            <a:endParaRPr lang="ru-RU" dirty="0"/>
          </a:p>
          <a:p>
            <a:r>
              <a:rPr lang="ru-RU" b="1" dirty="0"/>
              <a:t>Структура MBR:</a:t>
            </a:r>
            <a:endParaRPr lang="ru-RU" dirty="0"/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Компания: сводные KPI </a:t>
            </a:r>
            <a:r>
              <a:rPr lang="ru-RU" dirty="0" err="1"/>
              <a:t>vs</a:t>
            </a:r>
            <a:r>
              <a:rPr lang="ru-RU" dirty="0"/>
              <a:t>. план (RAG), ключевые победы/провалы, уроки.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Производство / Маркетинг / Финансы - по 2-3 слайда каждый: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План </a:t>
            </a:r>
            <a:r>
              <a:rPr lang="ru-RU" dirty="0" err="1"/>
              <a:t>vs</a:t>
            </a:r>
            <a:r>
              <a:rPr lang="ru-RU" dirty="0"/>
              <a:t>. факт (график), причины отклонений (top-3), корректирующие действия.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Риски/эскалации/решения: владелец → срок → ожидаемый эффект.</a:t>
            </a:r>
          </a:p>
          <a:p>
            <a:r>
              <a:rPr lang="ru-RU" dirty="0"/>
              <a:t> </a:t>
            </a:r>
          </a:p>
          <a:p>
            <a:r>
              <a:rPr lang="ru-RU" b="1" dirty="0"/>
              <a:t>Ежеквартально (QBR): 2-3 часа (первый вторник квартала)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сверка с годовым планом, </a:t>
            </a:r>
            <a:r>
              <a:rPr lang="ru-RU" dirty="0" err="1"/>
              <a:t>апдейт</a:t>
            </a:r>
            <a:r>
              <a:rPr lang="ru-RU" dirty="0"/>
              <a:t> OKR, </a:t>
            </a:r>
            <a:r>
              <a:rPr lang="ru-RU" dirty="0" err="1"/>
              <a:t>пересборка</a:t>
            </a:r>
            <a:r>
              <a:rPr lang="ru-RU" dirty="0"/>
              <a:t> приоритетов.</a:t>
            </a:r>
          </a:p>
          <a:p>
            <a:r>
              <a:rPr lang="ru-RU" b="1" dirty="0"/>
              <a:t>Артефакты:</a:t>
            </a:r>
            <a:r>
              <a:rPr lang="ru-RU" dirty="0"/>
              <a:t> квартальные OKR (3-5 на функцию), ресурсы, ключевые проекты, дорожные карты.</a:t>
            </a:r>
          </a:p>
          <a:p>
            <a:r>
              <a:rPr lang="ru-RU" b="1" dirty="0"/>
              <a:t>Повестка:</a:t>
            </a:r>
            <a:endParaRPr lang="ru-RU" dirty="0"/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Результаты квартала: что сработало/нет, </a:t>
            </a:r>
            <a:r>
              <a:rPr lang="ru-RU" dirty="0" err="1"/>
              <a:t>unit</a:t>
            </a:r>
            <a:r>
              <a:rPr lang="ru-RU" dirty="0"/>
              <a:t>-экономика.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Решения по приоритетам/ресурсам/рискам на следующий квартал.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dirty="0"/>
              <a:t>Утверждение целей и контрольных точек (</a:t>
            </a:r>
            <a:r>
              <a:rPr lang="ru-RU" dirty="0" err="1"/>
              <a:t>Milestones</a:t>
            </a:r>
            <a:r>
              <a:rPr lang="ru-RU" dirty="0"/>
              <a:t>) по месяцам.</a:t>
            </a:r>
          </a:p>
          <a:p>
            <a:r>
              <a:rPr lang="ru-RU" dirty="0"/>
              <a:t> </a:t>
            </a:r>
          </a:p>
          <a:p>
            <a:r>
              <a:rPr lang="ru-RU" b="1" dirty="0"/>
              <a:t>Ежегодно</a:t>
            </a:r>
            <a:r>
              <a:rPr lang="en-US" b="1" dirty="0"/>
              <a:t>: </a:t>
            </a:r>
            <a:r>
              <a:rPr lang="ru-RU" b="1" dirty="0"/>
              <a:t>1 день (стратегическая сессия)</a:t>
            </a:r>
            <a:endParaRPr lang="ru-RU" sz="1200" dirty="0"/>
          </a:p>
          <a:p>
            <a:r>
              <a:rPr lang="ru-RU" b="1" dirty="0"/>
              <a:t>Цель:</a:t>
            </a:r>
            <a:r>
              <a:rPr lang="ru-RU" dirty="0"/>
              <a:t> стратегия на год, бюджет, ключевые ставки.</a:t>
            </a:r>
          </a:p>
          <a:p>
            <a:r>
              <a:rPr lang="ru-RU" b="1" dirty="0"/>
              <a:t>Выходы:</a:t>
            </a:r>
            <a:r>
              <a:rPr lang="ru-RU" dirty="0"/>
              <a:t> Годовые цели, бюджет, ключевые инициативы, рисковая карта, коммуникационный план.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встречи для решений.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6288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(ЯДРО ДАШБОРДА)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1423564"/>
            <a:ext cx="11596099" cy="401087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Производство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Пример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пример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Маркетинг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 err="1"/>
              <a:t>Pipeline</a:t>
            </a:r>
            <a:r>
              <a:rPr lang="ru-RU" b="1" dirty="0"/>
              <a:t>-вклад:</a:t>
            </a:r>
            <a:r>
              <a:rPr lang="ru-RU" dirty="0"/>
              <a:t> MQL/SQL, влияние на выручку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/>
              <a:t>CAC / </a:t>
            </a:r>
            <a:r>
              <a:rPr lang="ru-RU" b="1" dirty="0" err="1"/>
              <a:t>Payback</a:t>
            </a:r>
            <a:r>
              <a:rPr lang="ru-RU" b="1" dirty="0"/>
              <a:t>, ROAS/ROMI</a:t>
            </a:r>
            <a:r>
              <a:rPr lang="ru-RU" dirty="0"/>
              <a:t>, CPL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/>
              <a:t>Качество </a:t>
            </a:r>
            <a:r>
              <a:rPr lang="ru-RU" b="1" dirty="0" err="1"/>
              <a:t>лидов</a:t>
            </a:r>
            <a:r>
              <a:rPr lang="ru-RU" b="1" dirty="0"/>
              <a:t>:</a:t>
            </a:r>
            <a:r>
              <a:rPr lang="ru-RU" dirty="0"/>
              <a:t> конверсия </a:t>
            </a:r>
            <a:r>
              <a:rPr lang="ru-RU" dirty="0" err="1"/>
              <a:t>MQL→SQL→Won</a:t>
            </a:r>
            <a:endParaRPr lang="ru-RU" dirty="0"/>
          </a:p>
          <a:p>
            <a:r>
              <a:rPr lang="en-US" dirty="0"/>
              <a:t> </a:t>
            </a:r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Финансы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/>
              <a:t>Выручка/Валовая маржа/EBITDA</a:t>
            </a:r>
            <a:r>
              <a:rPr lang="ru-RU" dirty="0"/>
              <a:t> (план-факт)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/>
              <a:t>ДДС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операционный</a:t>
            </a:r>
            <a:r>
              <a:rPr lang="en-US" dirty="0"/>
              <a:t> Cash Flow, </a:t>
            </a:r>
            <a:r>
              <a:rPr lang="en-US" b="1" dirty="0"/>
              <a:t>Cash runway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AR/AP </a:t>
            </a:r>
            <a:r>
              <a:rPr lang="ru-RU" b="1" dirty="0"/>
              <a:t>и</a:t>
            </a:r>
            <a:r>
              <a:rPr lang="en-US" b="1" dirty="0"/>
              <a:t> DSO/DPO, CCC (cash conversion cycle)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/>
              <a:t>Операционные расходы (</a:t>
            </a:r>
            <a:r>
              <a:rPr lang="ru-RU" b="1" dirty="0" err="1"/>
              <a:t>Opex</a:t>
            </a:r>
            <a:r>
              <a:rPr lang="ru-RU" b="1" dirty="0"/>
              <a:t>) </a:t>
            </a:r>
            <a:r>
              <a:rPr lang="ru-RU" b="1" dirty="0" err="1"/>
              <a:t>vs</a:t>
            </a:r>
            <a:r>
              <a:rPr lang="ru-RU" b="1" dirty="0"/>
              <a:t>. бюджет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dirty="0" err="1"/>
              <a:t>Rolling</a:t>
            </a:r>
            <a:r>
              <a:rPr lang="ru-RU" b="1" dirty="0"/>
              <a:t> </a:t>
            </a:r>
            <a:r>
              <a:rPr lang="ru-RU" b="1" dirty="0" err="1"/>
              <a:t>forecast</a:t>
            </a:r>
            <a:r>
              <a:rPr lang="ru-RU" b="1" dirty="0"/>
              <a:t> 12 </a:t>
            </a:r>
            <a:r>
              <a:rPr lang="ru-RU" b="1" dirty="0" err="1"/>
              <a:t>мес</a:t>
            </a:r>
            <a:r>
              <a:rPr lang="ru-RU" dirty="0"/>
              <a:t> (обновляется ежемесячно)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506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РОЛИ И ОЖИДАНИЯ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1423564"/>
            <a:ext cx="11596099" cy="4010872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Wingdings" pitchFamily="2" charset="2"/>
              <a:buChar char="Ø"/>
            </a:pPr>
            <a:r>
              <a:rPr lang="ru-RU" b="1" dirty="0"/>
              <a:t>Директор Производства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Ежедневно: утилизация/качество/план-факт.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Еженедельно: OEE/OTIF, потери/причины, план </a:t>
            </a:r>
            <a:r>
              <a:rPr lang="ru-RU" dirty="0" err="1"/>
              <a:t>кайдзен</a:t>
            </a:r>
            <a:r>
              <a:rPr lang="ru-RU" dirty="0"/>
              <a:t>-активностей.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Ежемесячно: рентабельность, сервис-уровень.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b="1" dirty="0"/>
              <a:t>Директор Маркетинга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Ежедневно: активные кампании, прогноз </a:t>
            </a:r>
            <a:r>
              <a:rPr lang="ru-RU" dirty="0" err="1"/>
              <a:t>лидов</a:t>
            </a:r>
            <a:r>
              <a:rPr lang="ru-RU" dirty="0"/>
              <a:t>/потока на 7 дней, SLA с продажами.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Еженедельно: MQL/SQL, CAC тренд, эксперименты </a:t>
            </a:r>
            <a:r>
              <a:rPr lang="ru-RU" dirty="0" err="1"/>
              <a:t>A</a:t>
            </a:r>
            <a:r>
              <a:rPr lang="ru-RU" dirty="0"/>
              <a:t>/</a:t>
            </a:r>
            <a:r>
              <a:rPr lang="ru-RU" dirty="0" err="1"/>
              <a:t>B</a:t>
            </a:r>
            <a:r>
              <a:rPr lang="ru-RU" dirty="0"/>
              <a:t>, контент-план.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Ежемесячно: ROMI, вклад в выручку, бренд-метрики, </a:t>
            </a:r>
            <a:r>
              <a:rPr lang="ru-RU" dirty="0" err="1"/>
              <a:t>пересборка</a:t>
            </a:r>
            <a:r>
              <a:rPr lang="ru-RU" dirty="0"/>
              <a:t> канального </a:t>
            </a:r>
            <a:r>
              <a:rPr lang="ru-RU" dirty="0" err="1"/>
              <a:t>микса</a:t>
            </a:r>
            <a:r>
              <a:rPr lang="ru-RU" dirty="0"/>
              <a:t>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b="1" dirty="0"/>
              <a:t>Финансы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Ежедневно: кассовый остаток, крупные платежи/инкассации.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Еженедельно: </a:t>
            </a:r>
            <a:r>
              <a:rPr lang="ru-RU" dirty="0" err="1"/>
              <a:t>burn</a:t>
            </a:r>
            <a:r>
              <a:rPr lang="ru-RU" dirty="0"/>
              <a:t>/</a:t>
            </a:r>
            <a:r>
              <a:rPr lang="ru-RU" dirty="0" err="1"/>
              <a:t>profitability</a:t>
            </a:r>
            <a:r>
              <a:rPr lang="ru-RU" dirty="0"/>
              <a:t>, AR/AP, риски ликвидности.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Ежемесячно</a:t>
            </a:r>
            <a:r>
              <a:rPr lang="en-US" dirty="0"/>
              <a:t>: P&amp;L/BS/CF, variance analysis, </a:t>
            </a:r>
            <a:r>
              <a:rPr lang="ru-RU" dirty="0"/>
              <a:t>обновление </a:t>
            </a:r>
            <a:r>
              <a:rPr lang="en-US" b="1" dirty="0"/>
              <a:t>rolling forecast</a:t>
            </a:r>
            <a:r>
              <a:rPr lang="en-US" dirty="0"/>
              <a:t>.</a:t>
            </a:r>
            <a:endParaRPr lang="ru-RU" dirty="0"/>
          </a:p>
          <a:p>
            <a:pPr marL="285750" indent="-285750">
              <a:buFont typeface="Wingdings" pitchFamily="2" charset="2"/>
              <a:buChar char="Ø"/>
            </a:pPr>
            <a:endParaRPr lang="ru-RU" dirty="0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1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 И ЭСКАЛАЦИИ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1455173"/>
            <a:ext cx="11596099" cy="51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Wingdings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RAG-правила: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идём по плану (&lt;5% отклонение).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риск цели (5–15%), план коррекции внутри функции.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&gt;15%/угроза цели: обязательная эскалация на еженедельной сессии.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 рисков: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владелец, вероятность/влияние, план смягчения, дата пересмотра.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Эскалационный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пост: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«Проблема → Влияние → Варианты решения (3) → Рекомендация → Срок».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D5B04B70-8EA7-A24D-88B1-38E3B0FCE42F}"/>
              </a:ext>
            </a:extLst>
          </p:cNvPr>
          <p:cNvSpPr/>
          <p:nvPr/>
        </p:nvSpPr>
        <p:spPr>
          <a:xfrm>
            <a:off x="540774" y="1780968"/>
            <a:ext cx="196645" cy="19531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AFA874B-2DA1-8F4D-BB64-7331EBA47FEF}"/>
              </a:ext>
            </a:extLst>
          </p:cNvPr>
          <p:cNvSpPr/>
          <p:nvPr/>
        </p:nvSpPr>
        <p:spPr>
          <a:xfrm>
            <a:off x="550606" y="2036607"/>
            <a:ext cx="196645" cy="19531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17C7D2D-AF4B-CB4C-817E-A24F1367EB7D}"/>
              </a:ext>
            </a:extLst>
          </p:cNvPr>
          <p:cNvSpPr/>
          <p:nvPr/>
        </p:nvSpPr>
        <p:spPr>
          <a:xfrm>
            <a:off x="550606" y="2321742"/>
            <a:ext cx="196645" cy="1953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89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ШАБЛОНЫ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757083"/>
            <a:ext cx="6314053" cy="51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Дневной чек-ин (каждый лидер):</a:t>
            </a:r>
            <a:endParaRPr lang="ru-RU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[ДД.ММ] Мои топ-3 на сегодня: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1) [Результат + метрика + срок] (DRI: я)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2)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3)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 err="1"/>
              <a:t>Блокеры</a:t>
            </a:r>
            <a:r>
              <a:rPr lang="ru-RU" dirty="0"/>
              <a:t>/зависимости: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Нужна помощь от: …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Еженедельный статус (до четверга 08:00):</a:t>
            </a:r>
            <a:endParaRPr lang="ru-RU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Итоги прошлой недели (факт/RAG):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План недели (метрики/сроки):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Узкие места/риски: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Решения, нужные на </a:t>
            </a:r>
            <a:r>
              <a:rPr lang="ru-RU" dirty="0" err="1"/>
              <a:t>созвоне</a:t>
            </a:r>
            <a:r>
              <a:rPr lang="ru-RU" dirty="0"/>
              <a:t>: …</a:t>
            </a:r>
          </a:p>
          <a:p>
            <a:pPr marL="285750" indent="-285750">
              <a:buFont typeface="Wingdings" pitchFamily="2" charset="2"/>
              <a:buChar char="Ø"/>
            </a:pPr>
            <a:endParaRPr lang="ru-RU" dirty="0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7</a:t>
            </a:fld>
            <a:endParaRPr lang="ru-RU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7AB33A5-3373-DD42-82C0-130309A3C143}"/>
              </a:ext>
            </a:extLst>
          </p:cNvPr>
          <p:cNvSpPr/>
          <p:nvPr/>
        </p:nvSpPr>
        <p:spPr>
          <a:xfrm>
            <a:off x="5661637" y="757082"/>
            <a:ext cx="6314053" cy="51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Ежемесячный MBR (один слайд на функцию):</a:t>
            </a:r>
            <a:endParaRPr lang="ru-RU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KPI план </a:t>
            </a:r>
            <a:r>
              <a:rPr lang="ru-RU" dirty="0" err="1"/>
              <a:t>vs</a:t>
            </a:r>
            <a:r>
              <a:rPr lang="ru-RU" dirty="0"/>
              <a:t> факт (график/таблица)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Отклонения: top-3 причины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CAPA/</a:t>
            </a:r>
            <a:r>
              <a:rPr lang="ru-RU" dirty="0" err="1"/>
              <a:t>экшены</a:t>
            </a:r>
            <a:r>
              <a:rPr lang="ru-RU" dirty="0"/>
              <a:t>: владелец → срок → ожидаемый эффект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Запросы/решения: …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b="1" dirty="0"/>
              <a:t>QBR/OKR (на функцию):</a:t>
            </a:r>
            <a:endParaRPr lang="ru-RU" dirty="0"/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 err="1"/>
              <a:t>Objective</a:t>
            </a:r>
            <a:r>
              <a:rPr lang="ru-RU" dirty="0"/>
              <a:t> 1: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KR1: метрика/база/целевой/срок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KR2: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Инициативы: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Риски/зависимости: …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ru-RU" dirty="0"/>
              <a:t>Ресурсы/бюджет: …</a:t>
            </a:r>
          </a:p>
        </p:txBody>
      </p:sp>
    </p:spTree>
    <p:extLst>
      <p:ext uri="{BB962C8B-B14F-4D97-AF65-F5344CB8AC3E}">
        <p14:creationId xmlns:p14="http://schemas.microsoft.com/office/powerpoint/2010/main" val="142020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131C3-350E-9E4E-BBC1-F1697C7F0B67}"/>
              </a:ext>
            </a:extLst>
          </p:cNvPr>
          <p:cNvSpPr txBox="1"/>
          <p:nvPr/>
        </p:nvSpPr>
        <p:spPr>
          <a:xfrm>
            <a:off x="0" y="259754"/>
            <a:ext cx="959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РИТУАЛЫ КАЧЕСТВА 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36BCB34C-3B6E-3043-ADE5-61023FF74655}"/>
              </a:ext>
            </a:extLst>
          </p:cNvPr>
          <p:cNvCxnSpPr>
            <a:cxnSpLocks/>
          </p:cNvCxnSpPr>
          <p:nvPr/>
        </p:nvCxnSpPr>
        <p:spPr>
          <a:xfrm>
            <a:off x="126076" y="659864"/>
            <a:ext cx="1166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3">
            <a:extLst>
              <a:ext uri="{FF2B5EF4-FFF2-40B4-BE49-F238E27FC236}">
                <a16:creationId xmlns:a16="http://schemas.microsoft.com/office/drawing/2014/main" id="{5B33D931-77E1-CB44-94BD-B3F4ABD490BF}"/>
              </a:ext>
            </a:extLst>
          </p:cNvPr>
          <p:cNvSpPr/>
          <p:nvPr/>
        </p:nvSpPr>
        <p:spPr>
          <a:xfrm>
            <a:off x="126076" y="1455173"/>
            <a:ext cx="11596099" cy="514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истины: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одна таблица + одна доска задач. Любые цифры в слайдах = ссылки на источник.</a:t>
            </a: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Встречи - только для решений.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Всё, что можно решить асинхронно - решаем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созвона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фиксируем: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→ что решили → владелец → срок → ссылка). Обязательно либо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трелло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стена в кабинете и прочие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F823CD64-49EF-094D-B301-08BC7197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1435"/>
            <a:ext cx="2743200" cy="365125"/>
          </a:xfrm>
        </p:spPr>
        <p:txBody>
          <a:bodyPr/>
          <a:lstStyle/>
          <a:p>
            <a:fld id="{4AFCCB53-41C7-B545-A7B9-FEBB4695CF7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98755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43894</TotalTime>
  <Words>608</Words>
  <Application>Microsoft Macintosh PowerPoint</Application>
  <PresentationFormat>Широкоэкранный</PresentationFormat>
  <Paragraphs>145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Times New Roman</vt:lpstr>
      <vt:lpstr>Wingdings</vt:lpstr>
      <vt:lpstr>Тема Office</vt:lpstr>
      <vt:lpstr>РИТМ КОМАНДЫ  ЛИДЕРОВ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320</cp:revision>
  <cp:lastPrinted>2025-08-06T22:41:01Z</cp:lastPrinted>
  <dcterms:created xsi:type="dcterms:W3CDTF">2025-04-10T08:32:04Z</dcterms:created>
  <dcterms:modified xsi:type="dcterms:W3CDTF">2025-09-08T10:47:39Z</dcterms:modified>
</cp:coreProperties>
</file>